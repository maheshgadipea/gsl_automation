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for the BCB Agentic AI programme. Four workstreams: Envoy migration onto the strategic platform; Looker dashboard integration backed by BigQuery for savings and deposit reporting; Athena integration for approved knowledge retrieval; and the Deposits Discovery conversational journey on the public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for the BCB Agentic AI programme. Four workstreams: Envoy migration onto the strategic platform; Looker dashboard integration backed by BigQuery for savings and deposit reporting; Athena integration for approved knowledge retrieval; and the Deposits Discovery conversational journey on the public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for the BCB Agentic AI programme. Four workstreams: Envoy migration onto the strategic platform; Looker dashboard integration backed by BigQuery for savings and deposit reporting; Athena integration for approved knowledge retrieval; and the Deposits Discovery conversational journey on the public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0292" cy="5989320"/>
          </a:xfrm>
          <a:prstGeom prst="rect">
            <a:avLst/>
          </a:prstGeom>
          <a:solidFill>
            <a:srgbClr val="14402F"/>
          </a:solidFill>
          <a:ln w="12700">
            <a:solidFill>
              <a:srgbClr val="1440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438912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14402F"/>
          </a:solidFill>
          <a:ln w="12700">
            <a:solidFill>
              <a:srgbClr val="1440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4389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38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76809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Agentic AI </a:t>
            </a:r>
            <a:pPr indent="0" marL="0">
              <a:buNone/>
            </a:pPr>
            <a:r>
              <a:rPr lang="en-US" sz="4000" b="1" dirty="0">
                <a:solidFill>
                  <a:srgbClr val="3E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Comes Next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960120" cy="41148"/>
          </a:xfrm>
          <a:prstGeom prst="rect">
            <a:avLst/>
          </a:prstGeom>
          <a:solidFill>
            <a:srgbClr val="3E7D5C"/>
          </a:solidFill>
          <a:ln w="12700">
            <a:solidFill>
              <a:srgbClr val="3E7D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 for the next phase — platform, reporting, knowledge and a new customer journey.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640080" cy="640080"/>
          </a:xfrm>
          <a:prstGeom prst="ellipse">
            <a:avLst/>
          </a:prstGeom>
          <a:solidFill>
            <a:srgbClr val="3E7D5C"/>
          </a:solidFill>
          <a:ln w="12700">
            <a:solidFill>
              <a:srgbClr val="3E7D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Migration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Deposits Discovery agent onto the strategic Envoy platform.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93008" y="2615184"/>
            <a:ext cx="640080" cy="640080"/>
          </a:xfrm>
          <a:prstGeom prst="ellipse">
            <a:avLst/>
          </a:prstGeom>
          <a:solidFill>
            <a:srgbClr val="3E7D5C"/>
          </a:solidFill>
          <a:ln w="12700">
            <a:solidFill>
              <a:srgbClr val="3E7D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3008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Dashboard Integration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for savings and deposit product performance on Looker dashboards, backed by BigQuery.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0216" y="2615184"/>
            <a:ext cx="640080" cy="640080"/>
          </a:xfrm>
          <a:prstGeom prst="ellipse">
            <a:avLst/>
          </a:prstGeom>
          <a:solidFill>
            <a:srgbClr val="3E7D5C"/>
          </a:solidFill>
          <a:ln w="12700">
            <a:solidFill>
              <a:srgbClr val="3E7D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0216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Integration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knowledge retrieval, grounding answers in accurate savings and deposit product information.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07424" y="2615184"/>
            <a:ext cx="640080" cy="640080"/>
          </a:xfrm>
          <a:prstGeom prst="ellipse">
            <a:avLst/>
          </a:prstGeom>
          <a:solidFill>
            <a:srgbClr val="3E7D5C"/>
          </a:solidFill>
          <a:ln w="12700">
            <a:solidFill>
              <a:srgbClr val="3E7D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Discovery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journey for BCB customers to explore and compare savings and deposit products on the public website.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817352" cy="566928"/>
          </a:xfrm>
          <a:prstGeom prst="rect">
            <a:avLst/>
          </a:prstGeom>
          <a:solidFill>
            <a:srgbClr val="F0F5F1"/>
          </a:solidFill>
          <a:ln w="12700">
            <a:solidFill>
              <a:srgbClr val="F0F5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build on the same guarded agentic pattern already live for </a:t>
            </a:r>
            <a:pPr indent="0" marL="0">
              <a:buNone/>
            </a:pPr>
            <a:r>
              <a:rPr lang="en-US" sz="14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</a:t>
            </a:r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Scotland</a:t>
            </a:r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Deep Forest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0292" cy="5989320"/>
          </a:xfrm>
          <a:prstGeom prst="rect">
            <a:avLst/>
          </a:prstGeom>
          <a:solidFill>
            <a:srgbClr val="2C4A3B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438912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2C4A3B"/>
          </a:solidFill>
          <a:ln w="12700">
            <a:solidFill>
              <a:srgbClr val="2C4A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4389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38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90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76809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Agentic AI </a:t>
            </a:r>
            <a:pPr indent="0" marL="0">
              <a:buNone/>
            </a:pPr>
            <a:r>
              <a:rPr lang="en-US" sz="4000" b="1" dirty="0">
                <a:solidFill>
                  <a:srgbClr val="6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Comes Next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960120" cy="41148"/>
          </a:xfrm>
          <a:prstGeom prst="rect">
            <a:avLst/>
          </a:prstGeom>
          <a:solidFill>
            <a:srgbClr val="6E9B7E"/>
          </a:solidFill>
          <a:ln w="12700">
            <a:solidFill>
              <a:srgbClr val="6E9B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 for the next phase — platform, reporting, knowledge and a new customer journey.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640080" cy="640080"/>
          </a:xfrm>
          <a:prstGeom prst="ellipse">
            <a:avLst/>
          </a:prstGeom>
          <a:solidFill>
            <a:srgbClr val="6E9B7E"/>
          </a:solidFill>
          <a:ln w="12700">
            <a:solidFill>
              <a:srgbClr val="6E9B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Migration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Deposits Discovery agent onto the strategic Envoy platform.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93008" y="2615184"/>
            <a:ext cx="640080" cy="640080"/>
          </a:xfrm>
          <a:prstGeom prst="ellipse">
            <a:avLst/>
          </a:prstGeom>
          <a:solidFill>
            <a:srgbClr val="6E9B7E"/>
          </a:solidFill>
          <a:ln w="12700">
            <a:solidFill>
              <a:srgbClr val="6E9B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3008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Dashboard Integration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for savings and deposit product performance on Looker dashboards, backed by BigQuery.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0216" y="2615184"/>
            <a:ext cx="640080" cy="640080"/>
          </a:xfrm>
          <a:prstGeom prst="ellipse">
            <a:avLst/>
          </a:prstGeom>
          <a:solidFill>
            <a:srgbClr val="6E9B7E"/>
          </a:solidFill>
          <a:ln w="12700">
            <a:solidFill>
              <a:srgbClr val="6E9B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0216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Integration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knowledge retrieval, grounding answers in accurate savings and deposit product information.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07424" y="2615184"/>
            <a:ext cx="640080" cy="640080"/>
          </a:xfrm>
          <a:prstGeom prst="ellipse">
            <a:avLst/>
          </a:prstGeom>
          <a:solidFill>
            <a:srgbClr val="6E9B7E"/>
          </a:solidFill>
          <a:ln w="12700">
            <a:solidFill>
              <a:srgbClr val="6E9B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Discovery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journey for BCB customers to explore and compare savings and deposit products on the public website.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817352" cy="566928"/>
          </a:xfrm>
          <a:prstGeom prst="rect">
            <a:avLst/>
          </a:prstGeom>
          <a:solidFill>
            <a:srgbClr val="F3F7F3"/>
          </a:solidFill>
          <a:ln w="12700">
            <a:solidFill>
              <a:srgbClr val="F3F7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build on the same guarded agentic pattern already live for </a:t>
            </a:r>
            <a:pPr indent="0" marL="0">
              <a:buNone/>
            </a:pPr>
            <a:r>
              <a:rPr lang="en-US" sz="14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</a:t>
            </a:r>
            <a:pPr indent="0" marL="0">
              <a:buNone/>
            </a:pPr>
            <a:r>
              <a:rPr lang="en-US" sz="1400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Scotland</a:t>
            </a:r>
            <a:pPr indent="0" marL="0">
              <a:buNone/>
            </a:pPr>
            <a:r>
              <a:rPr lang="en-US" sz="1400" dirty="0">
                <a:solidFill>
                  <a:srgbClr val="2C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Soft Sage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84048"/>
            <a:ext cx="50292" cy="5989320"/>
          </a:xfrm>
          <a:prstGeom prst="rect">
            <a:avLst/>
          </a:prstGeom>
          <a:solidFill>
            <a:srgbClr val="14402F"/>
          </a:solidFill>
          <a:ln w="12700">
            <a:solidFill>
              <a:srgbClr val="1440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438912"/>
            <a:ext cx="402336" cy="256032"/>
          </a:xfrm>
          <a:prstGeom prst="roundRect">
            <a:avLst>
              <a:gd name="adj" fmla="val 46429"/>
            </a:avLst>
          </a:prstGeom>
          <a:solidFill>
            <a:srgbClr val="14402F"/>
          </a:solidFill>
          <a:ln w="12700">
            <a:solidFill>
              <a:srgbClr val="1440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4389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38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76809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BCB Agentic AI </a:t>
            </a:r>
            <a:pPr indent="0" marL="0">
              <a:buNone/>
            </a:pPr>
            <a:r>
              <a:rPr lang="en-US" sz="4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Comes Next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960120" cy="4114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 for the next phase — platform, reporting, knowledge and a new customer journey.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615184"/>
            <a:ext cx="640080" cy="640080"/>
          </a:xfrm>
          <a:prstGeom prst="ellipse">
            <a:avLst/>
          </a:prstGeom>
          <a:solidFill>
            <a:srgbClr val="DDEBE2"/>
          </a:solidFill>
          <a:ln w="12700">
            <a:solidFill>
              <a:srgbClr val="DDEB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Migration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Deposits Discovery agent onto the strategic Envoy platform.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93008" y="2615184"/>
            <a:ext cx="640080" cy="640080"/>
          </a:xfrm>
          <a:prstGeom prst="ellipse">
            <a:avLst/>
          </a:prstGeom>
          <a:solidFill>
            <a:srgbClr val="DDEBE2"/>
          </a:solidFill>
          <a:ln w="12700">
            <a:solidFill>
              <a:srgbClr val="DD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93008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Dashboard Integration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93008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for savings and deposit product performance on Looker dashboards, backed by BigQuery.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0216" y="2615184"/>
            <a:ext cx="640080" cy="640080"/>
          </a:xfrm>
          <a:prstGeom prst="ellipse">
            <a:avLst/>
          </a:prstGeom>
          <a:solidFill>
            <a:srgbClr val="DDEBE2"/>
          </a:solidFill>
          <a:ln w="12700">
            <a:solidFill>
              <a:srgbClr val="DDEB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0216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Integration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knowledge retrieval, grounding answers in accurate savings and deposit product information.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07424" y="2615184"/>
            <a:ext cx="640080" cy="640080"/>
          </a:xfrm>
          <a:prstGeom prst="ellipse">
            <a:avLst/>
          </a:prstGeom>
          <a:solidFill>
            <a:srgbClr val="DDEBE2"/>
          </a:solidFill>
          <a:ln w="12700">
            <a:solidFill>
              <a:srgbClr val="DDEB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47472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Discovery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4279392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journey for BCB customers to explore and compare savings and deposit products on the public website.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10817352" cy="566928"/>
          </a:xfrm>
          <a:prstGeom prst="rect">
            <a:avLst/>
          </a:prstGeom>
          <a:solidFill>
            <a:srgbClr val="F2F7F3"/>
          </a:solidFill>
          <a:ln w="12700">
            <a:solidFill>
              <a:srgbClr val="F2F7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build on the same guarded agentic pattern already live for </a:t>
            </a:r>
            <a:pPr indent="0" marL="0">
              <a:buNone/>
            </a:pPr>
            <a:r>
              <a:rPr lang="en-US" sz="14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</a:t>
            </a:r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Scotland</a:t>
            </a:r>
            <a:pPr indent="0" marL="0">
              <a:buNone/>
            </a:pPr>
            <a:r>
              <a:rPr lang="en-US" sz="1400" dirty="0">
                <a:solidFill>
                  <a:srgbClr val="1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Deep Green, light markers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2026-09-04T07:40:31Z</dcterms:created>
  <dcterms:modified xsi:type="dcterms:W3CDTF">2026-09-04T07:40:31Z</dcterms:modified>
</cp:coreProperties>
</file>